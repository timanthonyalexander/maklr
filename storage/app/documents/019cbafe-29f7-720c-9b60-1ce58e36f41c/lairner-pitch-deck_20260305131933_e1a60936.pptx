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6858000" y="-1371601"/>
            <a:ext cx="3657600" cy="3657601"/>
          </a:xfrm>
          <a:prstGeom prst="ellipse">
            <a:avLst/>
          </a:prstGeom>
          <a:solidFill>
            <a:srgbClr val="7B5CFF">
              <a:alpha val="7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7772400" y="-457201"/>
            <a:ext cx="2286000" cy="2286001"/>
          </a:xfrm>
          <a:prstGeom prst="ellipse">
            <a:avLst/>
          </a:prstGeom>
          <a:solidFill>
            <a:srgbClr val="878BFF">
              <a:alpha val="6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731519" y="1245870"/>
            <a:ext cx="73152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lairner.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31519" y="2383661"/>
            <a:ext cx="7315201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B8B0D4"/>
                </a:solidFill>
              </a:defRPr>
            </a:lvl1pPr>
          </a:lstStyle>
          <a:p>
            <a:pPr/>
            <a:r>
              <a:t>Learn any language.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731519" y="3221422"/>
            <a:ext cx="64008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B8B0D4"/>
                </a:solidFill>
              </a:defRPr>
            </a:pPr>
            <a:r>
              <a:t>AI-powered language learning for 70+ languages,</a:t>
            </a:r>
          </a:p>
          <a:p>
            <a:pPr>
              <a:defRPr sz="1500">
                <a:solidFill>
                  <a:srgbClr val="B8B0D4"/>
                </a:solidFill>
              </a:defRPr>
            </a:pPr>
            <a:r>
              <a:t>including rare and endangered ones.</a:t>
            </a:r>
          </a:p>
        </p:txBody>
      </p:sp>
      <p:sp>
        <p:nvSpPr>
          <p:cNvPr id="25" name="Shape 5"/>
          <p:cNvSpPr/>
          <p:nvPr/>
        </p:nvSpPr>
        <p:spPr>
          <a:xfrm>
            <a:off x="0" y="4663440"/>
            <a:ext cx="9144000" cy="48006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731519" y="4825037"/>
            <a:ext cx="3657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lairner.com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29" name="Shape 1"/>
          <p:cNvSpPr/>
          <p:nvPr/>
        </p:nvSpPr>
        <p:spPr>
          <a:xfrm>
            <a:off x="731519" y="1371599"/>
            <a:ext cx="3657601" cy="1645922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" name="Text 2"/>
          <p:cNvSpPr txBox="1"/>
          <p:nvPr/>
        </p:nvSpPr>
        <p:spPr>
          <a:xfrm>
            <a:off x="731519" y="1620519"/>
            <a:ext cx="36576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7,000+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731519" y="2285999"/>
            <a:ext cx="3657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languages spoken worldwide</a:t>
            </a:r>
          </a:p>
        </p:txBody>
      </p:sp>
      <p:sp>
        <p:nvSpPr>
          <p:cNvPr id="32" name="Shape 4"/>
          <p:cNvSpPr/>
          <p:nvPr/>
        </p:nvSpPr>
        <p:spPr>
          <a:xfrm>
            <a:off x="4754879" y="1371599"/>
            <a:ext cx="3657601" cy="1645922"/>
          </a:xfrm>
          <a:prstGeom prst="rect">
            <a:avLst/>
          </a:prstGeom>
          <a:solidFill>
            <a:srgbClr val="5C3AED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" name="Text 5"/>
          <p:cNvSpPr txBox="1"/>
          <p:nvPr/>
        </p:nvSpPr>
        <p:spPr>
          <a:xfrm>
            <a:off x="4754879" y="1620519"/>
            <a:ext cx="36576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~40</a:t>
            </a:r>
          </a:p>
        </p:txBody>
      </p:sp>
      <p:sp>
        <p:nvSpPr>
          <p:cNvPr id="34" name="Text 6"/>
          <p:cNvSpPr txBox="1"/>
          <p:nvPr/>
        </p:nvSpPr>
        <p:spPr>
          <a:xfrm>
            <a:off x="4754879" y="2285999"/>
            <a:ext cx="3657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covered by Duolingo</a:t>
            </a:r>
          </a:p>
        </p:txBody>
      </p:sp>
      <p:sp>
        <p:nvSpPr>
          <p:cNvPr id="35" name="Shape 7"/>
          <p:cNvSpPr/>
          <p:nvPr/>
        </p:nvSpPr>
        <p:spPr>
          <a:xfrm>
            <a:off x="731519" y="3383279"/>
            <a:ext cx="164593" cy="164593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8"/>
          <p:cNvSpPr txBox="1"/>
          <p:nvPr/>
        </p:nvSpPr>
        <p:spPr>
          <a:xfrm>
            <a:off x="1051560" y="3414199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Billions of speakers of smaller languages have zero quality learning tools.</a:t>
            </a:r>
          </a:p>
        </p:txBody>
      </p:sp>
      <p:sp>
        <p:nvSpPr>
          <p:cNvPr id="37" name="Shape 9"/>
          <p:cNvSpPr/>
          <p:nvPr/>
        </p:nvSpPr>
        <p:spPr>
          <a:xfrm>
            <a:off x="731519" y="3886199"/>
            <a:ext cx="164593" cy="164594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0"/>
          <p:cNvSpPr txBox="1"/>
          <p:nvPr/>
        </p:nvSpPr>
        <p:spPr>
          <a:xfrm>
            <a:off x="1051560" y="3917118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One language dies roughly every 40 days. The rate is accelerating.</a:t>
            </a:r>
          </a:p>
        </p:txBody>
      </p:sp>
      <p:sp>
        <p:nvSpPr>
          <p:cNvPr id="39" name="Shape 11"/>
          <p:cNvSpPr/>
          <p:nvPr/>
        </p:nvSpPr>
        <p:spPr>
          <a:xfrm>
            <a:off x="731519" y="4389120"/>
            <a:ext cx="164593" cy="164593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1051560" y="4420038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Traditional content creation makes long-tail language pairs uneconomical.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43" name="Shape 1"/>
          <p:cNvSpPr/>
          <p:nvPr/>
        </p:nvSpPr>
        <p:spPr>
          <a:xfrm>
            <a:off x="731519" y="1371599"/>
            <a:ext cx="2468882" cy="2926082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Shape 2"/>
          <p:cNvSpPr/>
          <p:nvPr/>
        </p:nvSpPr>
        <p:spPr>
          <a:xfrm>
            <a:off x="1508760" y="1645920"/>
            <a:ext cx="914401" cy="91440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1639" y="1828800"/>
            <a:ext cx="54864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3"/>
          <p:cNvSpPr txBox="1"/>
          <p:nvPr/>
        </p:nvSpPr>
        <p:spPr>
          <a:xfrm>
            <a:off x="914399" y="2863850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Any Language Pair</a:t>
            </a:r>
          </a:p>
        </p:txBody>
      </p:sp>
      <p:sp>
        <p:nvSpPr>
          <p:cNvPr id="47" name="Text 4"/>
          <p:cNvSpPr txBox="1"/>
          <p:nvPr/>
        </p:nvSpPr>
        <p:spPr>
          <a:xfrm>
            <a:off x="914399" y="3200400"/>
            <a:ext cx="2103122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AI-generated, human-curated courses scale to any combination at near-zero marginal cost.</a:t>
            </a:r>
          </a:p>
        </p:txBody>
      </p:sp>
      <p:sp>
        <p:nvSpPr>
          <p:cNvPr id="48" name="Shape 5"/>
          <p:cNvSpPr/>
          <p:nvPr/>
        </p:nvSpPr>
        <p:spPr>
          <a:xfrm>
            <a:off x="3474720" y="1371599"/>
            <a:ext cx="2468881" cy="2926082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Shape 6"/>
          <p:cNvSpPr/>
          <p:nvPr/>
        </p:nvSpPr>
        <p:spPr>
          <a:xfrm>
            <a:off x="4251959" y="1645920"/>
            <a:ext cx="914401" cy="91440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34840" y="1828800"/>
            <a:ext cx="54864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 7"/>
          <p:cNvSpPr txBox="1"/>
          <p:nvPr/>
        </p:nvSpPr>
        <p:spPr>
          <a:xfrm>
            <a:off x="3657599" y="2863850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700+ Courses</a:t>
            </a:r>
          </a:p>
        </p:txBody>
      </p:sp>
      <p:sp>
        <p:nvSpPr>
          <p:cNvPr id="52" name="Text 8"/>
          <p:cNvSpPr txBox="1"/>
          <p:nvPr/>
        </p:nvSpPr>
        <p:spPr>
          <a:xfrm>
            <a:off x="3657599" y="3200400"/>
            <a:ext cx="2103122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70+ languages including rare and endangered ones. No content bottleneck.</a:t>
            </a:r>
          </a:p>
        </p:txBody>
      </p:sp>
      <p:sp>
        <p:nvSpPr>
          <p:cNvPr id="53" name="Shape 9"/>
          <p:cNvSpPr/>
          <p:nvPr/>
        </p:nvSpPr>
        <p:spPr>
          <a:xfrm>
            <a:off x="6217920" y="1371599"/>
            <a:ext cx="2468881" cy="2926082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" name="Shape 10"/>
          <p:cNvSpPr/>
          <p:nvPr/>
        </p:nvSpPr>
        <p:spPr>
          <a:xfrm>
            <a:off x="6995159" y="1645920"/>
            <a:ext cx="914401" cy="91440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78040" y="1828800"/>
            <a:ext cx="54864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ext 11"/>
          <p:cNvSpPr txBox="1"/>
          <p:nvPr/>
        </p:nvSpPr>
        <p:spPr>
          <a:xfrm>
            <a:off x="6400799" y="2863850"/>
            <a:ext cx="2103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Full Learning Stack</a:t>
            </a:r>
          </a:p>
        </p:txBody>
      </p:sp>
      <p:sp>
        <p:nvSpPr>
          <p:cNvPr id="57" name="Text 12"/>
          <p:cNvSpPr txBox="1"/>
          <p:nvPr/>
        </p:nvSpPr>
        <p:spPr>
          <a:xfrm>
            <a:off x="6400799" y="3200400"/>
            <a:ext cx="2103122" cy="7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200">
                <a:solidFill>
                  <a:srgbClr val="B8B0D4"/>
                </a:solidFill>
              </a:defRPr>
            </a:pPr>
            <a:r>
              <a:t>Vocabulary</a:t>
            </a:r>
          </a:p>
          <a:p>
            <a:pPr algn="ctr">
              <a:defRPr sz="1200">
                <a:solidFill>
                  <a:srgbClr val="B8B0D4"/>
                </a:solidFill>
              </a:defRPr>
            </a:pPr>
            <a:r>
              <a:t>Grammar</a:t>
            </a:r>
          </a:p>
          <a:p>
            <a:pPr algn="ctr">
              <a:defRPr sz="1200">
                <a:solidFill>
                  <a:srgbClr val="B8B0D4"/>
                </a:solidFill>
              </a:defRPr>
            </a:pPr>
            <a:r>
              <a:t>Listening</a:t>
            </a:r>
          </a:p>
          <a:p>
            <a:pPr algn="ctr">
              <a:defRPr sz="1200">
                <a:solidFill>
                  <a:srgbClr val="B8B0D4"/>
                </a:solidFill>
              </a:defRPr>
            </a:pPr>
            <a:r>
              <a:t>Speaking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Product</a:t>
            </a:r>
          </a:p>
        </p:txBody>
      </p:sp>
      <p:sp>
        <p:nvSpPr>
          <p:cNvPr id="60" name="Shape 1"/>
          <p:cNvSpPr/>
          <p:nvPr/>
        </p:nvSpPr>
        <p:spPr>
          <a:xfrm>
            <a:off x="731519" y="1280160"/>
            <a:ext cx="2468882" cy="1280161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2"/>
          <p:cNvSpPr txBox="1"/>
          <p:nvPr/>
        </p:nvSpPr>
        <p:spPr>
          <a:xfrm>
            <a:off x="731519" y="1479549"/>
            <a:ext cx="24688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Web App</a:t>
            </a:r>
          </a:p>
        </p:txBody>
      </p:sp>
      <p:sp>
        <p:nvSpPr>
          <p:cNvPr id="62" name="Text 3"/>
          <p:cNvSpPr txBox="1"/>
          <p:nvPr/>
        </p:nvSpPr>
        <p:spPr>
          <a:xfrm>
            <a:off x="868679" y="1828799"/>
            <a:ext cx="219456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2D2252"/>
                </a:solidFill>
              </a:defRPr>
            </a:lvl1pPr>
          </a:lstStyle>
          <a:p>
            <a:pPr/>
            <a:r>
              <a:t>React-based responsive web application at lairner.com</a:t>
            </a:r>
          </a:p>
        </p:txBody>
      </p:sp>
      <p:sp>
        <p:nvSpPr>
          <p:cNvPr id="63" name="Shape 4"/>
          <p:cNvSpPr/>
          <p:nvPr/>
        </p:nvSpPr>
        <p:spPr>
          <a:xfrm>
            <a:off x="3474720" y="1280160"/>
            <a:ext cx="2468881" cy="1280161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5"/>
          <p:cNvSpPr txBox="1"/>
          <p:nvPr/>
        </p:nvSpPr>
        <p:spPr>
          <a:xfrm>
            <a:off x="3474720" y="1479549"/>
            <a:ext cx="2468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iOS App</a:t>
            </a:r>
          </a:p>
        </p:txBody>
      </p:sp>
      <p:sp>
        <p:nvSpPr>
          <p:cNvPr id="65" name="Text 6"/>
          <p:cNvSpPr txBox="1"/>
          <p:nvPr/>
        </p:nvSpPr>
        <p:spPr>
          <a:xfrm>
            <a:off x="3611879" y="1828799"/>
            <a:ext cx="219456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2D2252"/>
                </a:solidFill>
              </a:defRPr>
            </a:lvl1pPr>
          </a:lstStyle>
          <a:p>
            <a:pPr/>
            <a:r>
              <a:t>Native Swift app with full offline support</a:t>
            </a:r>
          </a:p>
        </p:txBody>
      </p:sp>
      <p:sp>
        <p:nvSpPr>
          <p:cNvPr id="66" name="Shape 7"/>
          <p:cNvSpPr/>
          <p:nvPr/>
        </p:nvSpPr>
        <p:spPr>
          <a:xfrm>
            <a:off x="6217920" y="1280160"/>
            <a:ext cx="2468881" cy="1280161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8"/>
          <p:cNvSpPr txBox="1"/>
          <p:nvPr/>
        </p:nvSpPr>
        <p:spPr>
          <a:xfrm>
            <a:off x="6217920" y="1479549"/>
            <a:ext cx="2468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Android App</a:t>
            </a:r>
          </a:p>
        </p:txBody>
      </p:sp>
      <p:sp>
        <p:nvSpPr>
          <p:cNvPr id="68" name="Text 9"/>
          <p:cNvSpPr txBox="1"/>
          <p:nvPr/>
        </p:nvSpPr>
        <p:spPr>
          <a:xfrm>
            <a:off x="6355079" y="1828799"/>
            <a:ext cx="21945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2D2252"/>
                </a:solidFill>
              </a:defRPr>
            </a:lvl1pPr>
          </a:lstStyle>
          <a:p>
            <a:pPr/>
            <a:r>
              <a:t>Native Android app for global reach</a:t>
            </a:r>
          </a:p>
        </p:txBody>
      </p:sp>
      <p:sp>
        <p:nvSpPr>
          <p:cNvPr id="69" name="Text 10"/>
          <p:cNvSpPr txBox="1"/>
          <p:nvPr/>
        </p:nvSpPr>
        <p:spPr>
          <a:xfrm>
            <a:off x="731519" y="2929889"/>
            <a:ext cx="73152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70" name="Shape 11"/>
          <p:cNvSpPr/>
          <p:nvPr/>
        </p:nvSpPr>
        <p:spPr>
          <a:xfrm>
            <a:off x="731519" y="3456432"/>
            <a:ext cx="137161" cy="1371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2"/>
          <p:cNvSpPr txBox="1"/>
          <p:nvPr/>
        </p:nvSpPr>
        <p:spPr>
          <a:xfrm>
            <a:off x="1005839" y="348277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Adaptive learning sessions</a:t>
            </a:r>
          </a:p>
        </p:txBody>
      </p:sp>
      <p:sp>
        <p:nvSpPr>
          <p:cNvPr id="72" name="Shape 13"/>
          <p:cNvSpPr/>
          <p:nvPr/>
        </p:nvSpPr>
        <p:spPr>
          <a:xfrm>
            <a:off x="4846320" y="3456432"/>
            <a:ext cx="137161" cy="1371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4"/>
          <p:cNvSpPr txBox="1"/>
          <p:nvPr/>
        </p:nvSpPr>
        <p:spPr>
          <a:xfrm>
            <a:off x="5120640" y="348277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AI voice tutoring</a:t>
            </a:r>
          </a:p>
        </p:txBody>
      </p:sp>
      <p:sp>
        <p:nvSpPr>
          <p:cNvPr id="74" name="Shape 15"/>
          <p:cNvSpPr/>
          <p:nvPr/>
        </p:nvSpPr>
        <p:spPr>
          <a:xfrm>
            <a:off x="731519" y="3913632"/>
            <a:ext cx="137161" cy="1371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6"/>
          <p:cNvSpPr txBox="1"/>
          <p:nvPr/>
        </p:nvSpPr>
        <p:spPr>
          <a:xfrm>
            <a:off x="1005839" y="393997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Spaced repetition system</a:t>
            </a:r>
          </a:p>
        </p:txBody>
      </p:sp>
      <p:sp>
        <p:nvSpPr>
          <p:cNvPr id="76" name="Shape 17"/>
          <p:cNvSpPr/>
          <p:nvPr/>
        </p:nvSpPr>
        <p:spPr>
          <a:xfrm>
            <a:off x="4846320" y="3913632"/>
            <a:ext cx="137161" cy="1371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8"/>
          <p:cNvSpPr txBox="1"/>
          <p:nvPr/>
        </p:nvSpPr>
        <p:spPr>
          <a:xfrm>
            <a:off x="5120640" y="393997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Cross-platform sync</a:t>
            </a:r>
          </a:p>
        </p:txBody>
      </p:sp>
      <p:sp>
        <p:nvSpPr>
          <p:cNvPr id="78" name="Shape 19"/>
          <p:cNvSpPr/>
          <p:nvPr/>
        </p:nvSpPr>
        <p:spPr>
          <a:xfrm>
            <a:off x="731519" y="4370832"/>
            <a:ext cx="137161" cy="1371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0"/>
          <p:cNvSpPr txBox="1"/>
          <p:nvPr/>
        </p:nvSpPr>
        <p:spPr>
          <a:xfrm>
            <a:off x="1005839" y="439717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Progress tracking</a:t>
            </a:r>
          </a:p>
        </p:txBody>
      </p:sp>
      <p:sp>
        <p:nvSpPr>
          <p:cNvPr id="80" name="Shape 21"/>
          <p:cNvSpPr/>
          <p:nvPr/>
        </p:nvSpPr>
        <p:spPr>
          <a:xfrm>
            <a:off x="4846320" y="4370832"/>
            <a:ext cx="137161" cy="1371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22"/>
          <p:cNvSpPr txBox="1"/>
          <p:nvPr/>
        </p:nvSpPr>
        <p:spPr>
          <a:xfrm>
            <a:off x="5120640" y="439717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70+ languages | 700+ combinations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Traction</a:t>
            </a:r>
          </a:p>
        </p:txBody>
      </p:sp>
      <p:sp>
        <p:nvSpPr>
          <p:cNvPr id="84" name="Shape 1"/>
          <p:cNvSpPr/>
          <p:nvPr/>
        </p:nvSpPr>
        <p:spPr>
          <a:xfrm>
            <a:off x="731519" y="1280160"/>
            <a:ext cx="365760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" name="Shape 2"/>
          <p:cNvSpPr/>
          <p:nvPr/>
        </p:nvSpPr>
        <p:spPr>
          <a:xfrm>
            <a:off x="731519" y="1280160"/>
            <a:ext cx="73153" cy="14630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3"/>
          <p:cNvSpPr txBox="1"/>
          <p:nvPr/>
        </p:nvSpPr>
        <p:spPr>
          <a:xfrm>
            <a:off x="1005839" y="1470659"/>
            <a:ext cx="32004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3,000+</a:t>
            </a:r>
          </a:p>
        </p:txBody>
      </p:sp>
      <p:sp>
        <p:nvSpPr>
          <p:cNvPr id="87" name="Text 4"/>
          <p:cNvSpPr txBox="1"/>
          <p:nvPr/>
        </p:nvSpPr>
        <p:spPr>
          <a:xfrm>
            <a:off x="1005839" y="2070099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D225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88" name="Text 5"/>
          <p:cNvSpPr txBox="1"/>
          <p:nvPr/>
        </p:nvSpPr>
        <p:spPr>
          <a:xfrm>
            <a:off x="1005839" y="2378886"/>
            <a:ext cx="3200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Organic, zero paid acquisition</a:t>
            </a:r>
          </a:p>
        </p:txBody>
      </p:sp>
      <p:sp>
        <p:nvSpPr>
          <p:cNvPr id="89" name="Shape 6"/>
          <p:cNvSpPr/>
          <p:nvPr/>
        </p:nvSpPr>
        <p:spPr>
          <a:xfrm>
            <a:off x="4846320" y="1280160"/>
            <a:ext cx="365760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" name="Shape 7"/>
          <p:cNvSpPr/>
          <p:nvPr/>
        </p:nvSpPr>
        <p:spPr>
          <a:xfrm>
            <a:off x="4846320" y="1280160"/>
            <a:ext cx="73153" cy="14630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8"/>
          <p:cNvSpPr txBox="1"/>
          <p:nvPr/>
        </p:nvSpPr>
        <p:spPr>
          <a:xfrm>
            <a:off x="5120640" y="1470659"/>
            <a:ext cx="32004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1.2%</a:t>
            </a:r>
          </a:p>
        </p:txBody>
      </p:sp>
      <p:sp>
        <p:nvSpPr>
          <p:cNvPr id="92" name="Text 9"/>
          <p:cNvSpPr txBox="1"/>
          <p:nvPr/>
        </p:nvSpPr>
        <p:spPr>
          <a:xfrm>
            <a:off x="5120640" y="2070099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D225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Conversion Rate</a:t>
            </a:r>
          </a:p>
        </p:txBody>
      </p:sp>
      <p:sp>
        <p:nvSpPr>
          <p:cNvPr id="93" name="Text 10"/>
          <p:cNvSpPr txBox="1"/>
          <p:nvPr/>
        </p:nvSpPr>
        <p:spPr>
          <a:xfrm>
            <a:off x="5120640" y="2378886"/>
            <a:ext cx="3200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Freemium to premium</a:t>
            </a:r>
          </a:p>
        </p:txBody>
      </p:sp>
      <p:sp>
        <p:nvSpPr>
          <p:cNvPr id="94" name="Shape 11"/>
          <p:cNvSpPr/>
          <p:nvPr/>
        </p:nvSpPr>
        <p:spPr>
          <a:xfrm>
            <a:off x="731519" y="3017520"/>
            <a:ext cx="365760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" name="Shape 12"/>
          <p:cNvSpPr/>
          <p:nvPr/>
        </p:nvSpPr>
        <p:spPr>
          <a:xfrm>
            <a:off x="731519" y="3017520"/>
            <a:ext cx="73153" cy="14630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13"/>
          <p:cNvSpPr txBox="1"/>
          <p:nvPr/>
        </p:nvSpPr>
        <p:spPr>
          <a:xfrm>
            <a:off x="1005839" y="3208019"/>
            <a:ext cx="32004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33%</a:t>
            </a:r>
          </a:p>
        </p:txBody>
      </p:sp>
      <p:sp>
        <p:nvSpPr>
          <p:cNvPr id="97" name="Text 14"/>
          <p:cNvSpPr txBox="1"/>
          <p:nvPr/>
        </p:nvSpPr>
        <p:spPr>
          <a:xfrm>
            <a:off x="1005839" y="3807460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D225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D7 Retention</a:t>
            </a:r>
          </a:p>
        </p:txBody>
      </p:sp>
      <p:sp>
        <p:nvSpPr>
          <p:cNvPr id="98" name="Text 15"/>
          <p:cNvSpPr txBox="1"/>
          <p:nvPr/>
        </p:nvSpPr>
        <p:spPr>
          <a:xfrm>
            <a:off x="1005839" y="4116245"/>
            <a:ext cx="3200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Day 7 return rate</a:t>
            </a:r>
          </a:p>
        </p:txBody>
      </p:sp>
      <p:sp>
        <p:nvSpPr>
          <p:cNvPr id="99" name="Shape 16"/>
          <p:cNvSpPr/>
          <p:nvPr/>
        </p:nvSpPr>
        <p:spPr>
          <a:xfrm>
            <a:off x="4846320" y="3017520"/>
            <a:ext cx="3657601" cy="1463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Shape 17"/>
          <p:cNvSpPr/>
          <p:nvPr/>
        </p:nvSpPr>
        <p:spPr>
          <a:xfrm>
            <a:off x="4846320" y="3017520"/>
            <a:ext cx="73153" cy="14630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8"/>
          <p:cNvSpPr txBox="1"/>
          <p:nvPr/>
        </p:nvSpPr>
        <p:spPr>
          <a:xfrm>
            <a:off x="5120640" y="3208019"/>
            <a:ext cx="32004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38%</a:t>
            </a:r>
          </a:p>
        </p:txBody>
      </p:sp>
      <p:sp>
        <p:nvSpPr>
          <p:cNvPr id="102" name="Text 19"/>
          <p:cNvSpPr txBox="1"/>
          <p:nvPr/>
        </p:nvSpPr>
        <p:spPr>
          <a:xfrm>
            <a:off x="5120640" y="3807460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D225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D30 Retention</a:t>
            </a:r>
          </a:p>
        </p:txBody>
      </p:sp>
      <p:sp>
        <p:nvSpPr>
          <p:cNvPr id="103" name="Text 20"/>
          <p:cNvSpPr txBox="1"/>
          <p:nvPr/>
        </p:nvSpPr>
        <p:spPr>
          <a:xfrm>
            <a:off x="5120640" y="4116245"/>
            <a:ext cx="3200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Day 30 return rate</a:t>
            </a:r>
          </a:p>
        </p:txBody>
      </p:sp>
      <p:sp>
        <p:nvSpPr>
          <p:cNvPr id="104" name="Shape 21"/>
          <p:cNvSpPr/>
          <p:nvPr/>
        </p:nvSpPr>
        <p:spPr>
          <a:xfrm>
            <a:off x="731520" y="4571999"/>
            <a:ext cx="7680960" cy="411482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22"/>
          <p:cNvSpPr txBox="1"/>
          <p:nvPr/>
        </p:nvSpPr>
        <p:spPr>
          <a:xfrm>
            <a:off x="731520" y="4694359"/>
            <a:ext cx="76809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Viral Threads content generating millions of organic views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Market Opportunity</a:t>
            </a:r>
          </a:p>
        </p:txBody>
      </p:sp>
      <p:sp>
        <p:nvSpPr>
          <p:cNvPr id="108" name="Text 1"/>
          <p:cNvSpPr txBox="1"/>
          <p:nvPr/>
        </p:nvSpPr>
        <p:spPr>
          <a:xfrm>
            <a:off x="731519" y="1207769"/>
            <a:ext cx="36576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000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$15B+</a:t>
            </a:r>
          </a:p>
        </p:txBody>
      </p:sp>
      <p:sp>
        <p:nvSpPr>
          <p:cNvPr id="109" name="Text 2"/>
          <p:cNvSpPr txBox="1"/>
          <p:nvPr/>
        </p:nvSpPr>
        <p:spPr>
          <a:xfrm>
            <a:off x="731519" y="2145600"/>
            <a:ext cx="4572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B8B0D4"/>
                </a:solidFill>
              </a:defRPr>
            </a:lvl1pPr>
          </a:lstStyle>
          <a:p>
            <a:pPr/>
            <a:r>
              <a:t>Global language learning market, growing ~10% annually</a:t>
            </a:r>
          </a:p>
        </p:txBody>
      </p:sp>
      <p:sp>
        <p:nvSpPr>
          <p:cNvPr id="110" name="Shape 3"/>
          <p:cNvSpPr/>
          <p:nvPr/>
        </p:nvSpPr>
        <p:spPr>
          <a:xfrm>
            <a:off x="5029199" y="1188719"/>
            <a:ext cx="3474722" cy="731521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4"/>
          <p:cNvSpPr txBox="1"/>
          <p:nvPr/>
        </p:nvSpPr>
        <p:spPr>
          <a:xfrm>
            <a:off x="5212079" y="1421129"/>
            <a:ext cx="1280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1.5B+</a:t>
            </a:r>
          </a:p>
        </p:txBody>
      </p:sp>
      <p:sp>
        <p:nvSpPr>
          <p:cNvPr id="112" name="Text 5"/>
          <p:cNvSpPr txBox="1"/>
          <p:nvPr/>
        </p:nvSpPr>
        <p:spPr>
          <a:xfrm>
            <a:off x="6492240" y="1404796"/>
            <a:ext cx="182880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people actively learning a second language</a:t>
            </a:r>
          </a:p>
        </p:txBody>
      </p:sp>
      <p:sp>
        <p:nvSpPr>
          <p:cNvPr id="113" name="Shape 6"/>
          <p:cNvSpPr/>
          <p:nvPr/>
        </p:nvSpPr>
        <p:spPr>
          <a:xfrm>
            <a:off x="5029199" y="2103120"/>
            <a:ext cx="3474722" cy="731521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7"/>
          <p:cNvSpPr txBox="1"/>
          <p:nvPr/>
        </p:nvSpPr>
        <p:spPr>
          <a:xfrm>
            <a:off x="5212079" y="2335530"/>
            <a:ext cx="1280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Long Tail</a:t>
            </a:r>
          </a:p>
        </p:txBody>
      </p:sp>
      <p:sp>
        <p:nvSpPr>
          <p:cNvPr id="115" name="Text 8"/>
          <p:cNvSpPr txBox="1"/>
          <p:nvPr/>
        </p:nvSpPr>
        <p:spPr>
          <a:xfrm>
            <a:off x="6492240" y="2319196"/>
            <a:ext cx="182880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thousands of language pairs with zero competition</a:t>
            </a:r>
          </a:p>
        </p:txBody>
      </p:sp>
      <p:sp>
        <p:nvSpPr>
          <p:cNvPr id="116" name="Shape 9"/>
          <p:cNvSpPr/>
          <p:nvPr/>
        </p:nvSpPr>
        <p:spPr>
          <a:xfrm>
            <a:off x="5029199" y="3017520"/>
            <a:ext cx="3474722" cy="731521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0"/>
          <p:cNvSpPr txBox="1"/>
          <p:nvPr/>
        </p:nvSpPr>
        <p:spPr>
          <a:xfrm>
            <a:off x="5212079" y="3249930"/>
            <a:ext cx="1280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Diaspora</a:t>
            </a:r>
          </a:p>
        </p:txBody>
      </p:sp>
      <p:sp>
        <p:nvSpPr>
          <p:cNvPr id="118" name="Text 11"/>
          <p:cNvSpPr txBox="1"/>
          <p:nvPr/>
        </p:nvSpPr>
        <p:spPr>
          <a:xfrm>
            <a:off x="6492240" y="3233596"/>
            <a:ext cx="182880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heritage language learners with high willingness to pay</a:t>
            </a:r>
          </a:p>
        </p:txBody>
      </p:sp>
      <p:sp>
        <p:nvSpPr>
          <p:cNvPr id="119" name="Shape 12"/>
          <p:cNvSpPr/>
          <p:nvPr/>
        </p:nvSpPr>
        <p:spPr>
          <a:xfrm>
            <a:off x="5029199" y="3931920"/>
            <a:ext cx="3474722" cy="731521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3"/>
          <p:cNvSpPr txBox="1"/>
          <p:nvPr/>
        </p:nvSpPr>
        <p:spPr>
          <a:xfrm>
            <a:off x="5212079" y="4164330"/>
            <a:ext cx="1280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7B5C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Academic</a:t>
            </a:r>
          </a:p>
        </p:txBody>
      </p:sp>
      <p:sp>
        <p:nvSpPr>
          <p:cNvPr id="121" name="Text 14"/>
          <p:cNvSpPr txBox="1"/>
          <p:nvPr/>
        </p:nvSpPr>
        <p:spPr>
          <a:xfrm>
            <a:off x="6492240" y="4147996"/>
            <a:ext cx="182880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8B0D4"/>
                </a:solidFill>
              </a:defRPr>
            </a:lvl1pPr>
          </a:lstStyle>
          <a:p>
            <a:pPr/>
            <a:r>
              <a:t>universities and linguistic research institutions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Business Model</a:t>
            </a:r>
          </a:p>
        </p:txBody>
      </p:sp>
      <p:sp>
        <p:nvSpPr>
          <p:cNvPr id="124" name="Shape 1"/>
          <p:cNvSpPr/>
          <p:nvPr/>
        </p:nvSpPr>
        <p:spPr>
          <a:xfrm>
            <a:off x="731519" y="1280160"/>
            <a:ext cx="3657601" cy="3108961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" name="Shape 2"/>
          <p:cNvSpPr/>
          <p:nvPr/>
        </p:nvSpPr>
        <p:spPr>
          <a:xfrm>
            <a:off x="731519" y="1280160"/>
            <a:ext cx="3657601" cy="548641"/>
          </a:xfrm>
          <a:prstGeom prst="rect">
            <a:avLst/>
          </a:prstGeom>
          <a:solidFill>
            <a:srgbClr val="878B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3"/>
          <p:cNvSpPr txBox="1"/>
          <p:nvPr/>
        </p:nvSpPr>
        <p:spPr>
          <a:xfrm>
            <a:off x="731519" y="1421130"/>
            <a:ext cx="3657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Free Tier</a:t>
            </a:r>
          </a:p>
        </p:txBody>
      </p:sp>
      <p:sp>
        <p:nvSpPr>
          <p:cNvPr id="127" name="Text 4"/>
          <p:cNvSpPr txBox="1"/>
          <p:nvPr/>
        </p:nvSpPr>
        <p:spPr>
          <a:xfrm>
            <a:off x="1097279" y="2134038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Limited daily sessions</a:t>
            </a:r>
          </a:p>
        </p:txBody>
      </p:sp>
      <p:sp>
        <p:nvSpPr>
          <p:cNvPr id="128" name="Text 5"/>
          <p:cNvSpPr txBox="1"/>
          <p:nvPr/>
        </p:nvSpPr>
        <p:spPr>
          <a:xfrm>
            <a:off x="1097279" y="2636959"/>
            <a:ext cx="29260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Core vocabulary</a:t>
            </a:r>
          </a:p>
        </p:txBody>
      </p:sp>
      <p:sp>
        <p:nvSpPr>
          <p:cNvPr id="129" name="Text 6"/>
          <p:cNvSpPr txBox="1"/>
          <p:nvPr/>
        </p:nvSpPr>
        <p:spPr>
          <a:xfrm>
            <a:off x="1097279" y="3139879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Basic progress tracking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1097279" y="3642799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Community courses</a:t>
            </a:r>
          </a:p>
        </p:txBody>
      </p:sp>
      <p:sp>
        <p:nvSpPr>
          <p:cNvPr id="131" name="Shape 8"/>
          <p:cNvSpPr/>
          <p:nvPr/>
        </p:nvSpPr>
        <p:spPr>
          <a:xfrm>
            <a:off x="4754879" y="1280160"/>
            <a:ext cx="3657601" cy="3108961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Shape 9"/>
          <p:cNvSpPr/>
          <p:nvPr/>
        </p:nvSpPr>
        <p:spPr>
          <a:xfrm>
            <a:off x="4754879" y="1280160"/>
            <a:ext cx="3657601" cy="5486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0"/>
          <p:cNvSpPr txBox="1"/>
          <p:nvPr/>
        </p:nvSpPr>
        <p:spPr>
          <a:xfrm>
            <a:off x="4754879" y="1421130"/>
            <a:ext cx="3657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Premium</a:t>
            </a:r>
          </a:p>
        </p:txBody>
      </p:sp>
      <p:sp>
        <p:nvSpPr>
          <p:cNvPr id="134" name="Text 11"/>
          <p:cNvSpPr txBox="1"/>
          <p:nvPr/>
        </p:nvSpPr>
        <p:spPr>
          <a:xfrm>
            <a:off x="5120640" y="2134038"/>
            <a:ext cx="29260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Unlimited sessions</a:t>
            </a:r>
          </a:p>
        </p:txBody>
      </p:sp>
      <p:sp>
        <p:nvSpPr>
          <p:cNvPr id="135" name="Text 12"/>
          <p:cNvSpPr txBox="1"/>
          <p:nvPr/>
        </p:nvSpPr>
        <p:spPr>
          <a:xfrm>
            <a:off x="5120640" y="2636959"/>
            <a:ext cx="29260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AI voice tutoring</a:t>
            </a:r>
          </a:p>
        </p:txBody>
      </p:sp>
      <p:sp>
        <p:nvSpPr>
          <p:cNvPr id="136" name="Text 13"/>
          <p:cNvSpPr txBox="1"/>
          <p:nvPr/>
        </p:nvSpPr>
        <p:spPr>
          <a:xfrm>
            <a:off x="5120640" y="3139879"/>
            <a:ext cx="29260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All 700+ courses</a:t>
            </a:r>
          </a:p>
        </p:txBody>
      </p:sp>
      <p:sp>
        <p:nvSpPr>
          <p:cNvPr id="137" name="Text 14"/>
          <p:cNvSpPr txBox="1"/>
          <p:nvPr/>
        </p:nvSpPr>
        <p:spPr>
          <a:xfrm>
            <a:off x="5120640" y="3642799"/>
            <a:ext cx="29260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D2252"/>
                </a:solidFill>
              </a:defRPr>
            </a:lvl1pPr>
          </a:lstStyle>
          <a:p>
            <a:pPr/>
            <a:r>
              <a:t>Advanced analytics</a:t>
            </a:r>
          </a:p>
        </p:txBody>
      </p:sp>
      <p:sp>
        <p:nvSpPr>
          <p:cNvPr id="138" name="Text 15"/>
          <p:cNvSpPr txBox="1"/>
          <p:nvPr/>
        </p:nvSpPr>
        <p:spPr>
          <a:xfrm>
            <a:off x="731520" y="4699307"/>
            <a:ext cx="76809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Future: B2B/institutional licensing for universities and cultural preservation organizations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Competitive Advantage</a:t>
            </a:r>
          </a:p>
        </p:txBody>
      </p:sp>
      <p:sp>
        <p:nvSpPr>
          <p:cNvPr id="141" name="Shape 1"/>
          <p:cNvSpPr/>
          <p:nvPr/>
        </p:nvSpPr>
        <p:spPr>
          <a:xfrm>
            <a:off x="731520" y="1188719"/>
            <a:ext cx="768096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Shape 2"/>
          <p:cNvSpPr/>
          <p:nvPr/>
        </p:nvSpPr>
        <p:spPr>
          <a:xfrm>
            <a:off x="731519" y="1188719"/>
            <a:ext cx="73153" cy="7772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3"/>
          <p:cNvSpPr txBox="1"/>
          <p:nvPr/>
        </p:nvSpPr>
        <p:spPr>
          <a:xfrm>
            <a:off x="1005839" y="1469389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AI-First Architecture</a:t>
            </a:r>
          </a:p>
        </p:txBody>
      </p:sp>
      <p:sp>
        <p:nvSpPr>
          <p:cNvPr id="144" name="Text 4"/>
          <p:cNvSpPr txBox="1"/>
          <p:nvPr/>
        </p:nvSpPr>
        <p:spPr>
          <a:xfrm>
            <a:off x="3657600" y="1403657"/>
            <a:ext cx="45720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Courses generated, not manually authored. 100x faster language pair deployment than Duolingo.</a:t>
            </a:r>
          </a:p>
        </p:txBody>
      </p:sp>
      <p:sp>
        <p:nvSpPr>
          <p:cNvPr id="145" name="Shape 5"/>
          <p:cNvSpPr/>
          <p:nvPr/>
        </p:nvSpPr>
        <p:spPr>
          <a:xfrm>
            <a:off x="731520" y="2103120"/>
            <a:ext cx="768096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Shape 6"/>
          <p:cNvSpPr/>
          <p:nvPr/>
        </p:nvSpPr>
        <p:spPr>
          <a:xfrm>
            <a:off x="731519" y="2103120"/>
            <a:ext cx="73153" cy="777241"/>
          </a:xfrm>
          <a:prstGeom prst="rect">
            <a:avLst/>
          </a:prstGeom>
          <a:solidFill>
            <a:srgbClr val="5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7"/>
          <p:cNvSpPr txBox="1"/>
          <p:nvPr/>
        </p:nvSpPr>
        <p:spPr>
          <a:xfrm>
            <a:off x="1005839" y="2383790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Rare Language Moat</a:t>
            </a:r>
          </a:p>
        </p:txBody>
      </p:sp>
      <p:sp>
        <p:nvSpPr>
          <p:cNvPr id="148" name="Text 8"/>
          <p:cNvSpPr txBox="1"/>
          <p:nvPr/>
        </p:nvSpPr>
        <p:spPr>
          <a:xfrm>
            <a:off x="3657600" y="2318057"/>
            <a:ext cx="45720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No competitor can economically justify building Igbo-French or Yoruba-Korean. lairner can.</a:t>
            </a:r>
          </a:p>
        </p:txBody>
      </p:sp>
      <p:sp>
        <p:nvSpPr>
          <p:cNvPr id="149" name="Shape 9"/>
          <p:cNvSpPr/>
          <p:nvPr/>
        </p:nvSpPr>
        <p:spPr>
          <a:xfrm>
            <a:off x="731520" y="3017520"/>
            <a:ext cx="768096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" name="Shape 10"/>
          <p:cNvSpPr/>
          <p:nvPr/>
        </p:nvSpPr>
        <p:spPr>
          <a:xfrm>
            <a:off x="731519" y="3017520"/>
            <a:ext cx="73153" cy="7772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1"/>
          <p:cNvSpPr txBox="1"/>
          <p:nvPr/>
        </p:nvSpPr>
        <p:spPr>
          <a:xfrm>
            <a:off x="1005839" y="3298190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Solo Founder Velocity</a:t>
            </a:r>
          </a:p>
        </p:txBody>
      </p:sp>
      <p:sp>
        <p:nvSpPr>
          <p:cNvPr id="152" name="Text 12"/>
          <p:cNvSpPr txBox="1"/>
          <p:nvPr/>
        </p:nvSpPr>
        <p:spPr>
          <a:xfrm>
            <a:off x="3657600" y="3327707"/>
            <a:ext cx="4572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Entire stack rebuilt across 4 codebases (web, iOS, Android, API) in 1 week.</a:t>
            </a:r>
          </a:p>
        </p:txBody>
      </p:sp>
      <p:sp>
        <p:nvSpPr>
          <p:cNvPr id="153" name="Shape 13"/>
          <p:cNvSpPr/>
          <p:nvPr/>
        </p:nvSpPr>
        <p:spPr>
          <a:xfrm>
            <a:off x="731520" y="3931920"/>
            <a:ext cx="768096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" name="Shape 14"/>
          <p:cNvSpPr/>
          <p:nvPr/>
        </p:nvSpPr>
        <p:spPr>
          <a:xfrm>
            <a:off x="731519" y="3931920"/>
            <a:ext cx="73153" cy="777241"/>
          </a:xfrm>
          <a:prstGeom prst="rect">
            <a:avLst/>
          </a:prstGeom>
          <a:solidFill>
            <a:srgbClr val="5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15"/>
          <p:cNvSpPr txBox="1"/>
          <p:nvPr/>
        </p:nvSpPr>
        <p:spPr>
          <a:xfrm>
            <a:off x="1005839" y="4212590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Organic Virality</a:t>
            </a:r>
          </a:p>
        </p:txBody>
      </p:sp>
      <p:sp>
        <p:nvSpPr>
          <p:cNvPr id="156" name="Text 16"/>
          <p:cNvSpPr txBox="1"/>
          <p:nvPr/>
        </p:nvSpPr>
        <p:spPr>
          <a:xfrm>
            <a:off x="3657600" y="4146857"/>
            <a:ext cx="45720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Threads content generating millions of views proves product-market resonance.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Go-to-Market</a:t>
            </a:r>
          </a:p>
        </p:txBody>
      </p:sp>
      <p:sp>
        <p:nvSpPr>
          <p:cNvPr id="159" name="Shape 1"/>
          <p:cNvSpPr/>
          <p:nvPr/>
        </p:nvSpPr>
        <p:spPr>
          <a:xfrm>
            <a:off x="731519" y="1280160"/>
            <a:ext cx="594361" cy="5943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2"/>
          <p:cNvSpPr txBox="1"/>
          <p:nvPr/>
        </p:nvSpPr>
        <p:spPr>
          <a:xfrm>
            <a:off x="731519" y="1443990"/>
            <a:ext cx="5943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1" name="Text 3"/>
          <p:cNvSpPr txBox="1"/>
          <p:nvPr/>
        </p:nvSpPr>
        <p:spPr>
          <a:xfrm>
            <a:off x="1554480" y="1273809"/>
            <a:ext cx="2743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Organic Social</a:t>
            </a:r>
          </a:p>
        </p:txBody>
      </p:sp>
      <p:sp>
        <p:nvSpPr>
          <p:cNvPr id="162" name="Text 4"/>
          <p:cNvSpPr txBox="1"/>
          <p:nvPr/>
        </p:nvSpPr>
        <p:spPr>
          <a:xfrm>
            <a:off x="1554479" y="1554480"/>
            <a:ext cx="65836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Threads, TikTok targeting language enthusiasts and polyglots.</a:t>
            </a:r>
          </a:p>
        </p:txBody>
      </p:sp>
      <p:sp>
        <p:nvSpPr>
          <p:cNvPr id="163" name="Shape 5"/>
          <p:cNvSpPr/>
          <p:nvPr/>
        </p:nvSpPr>
        <p:spPr>
          <a:xfrm>
            <a:off x="731519" y="2194560"/>
            <a:ext cx="594361" cy="5943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6"/>
          <p:cNvSpPr txBox="1"/>
          <p:nvPr/>
        </p:nvSpPr>
        <p:spPr>
          <a:xfrm>
            <a:off x="731519" y="2358390"/>
            <a:ext cx="5943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 7"/>
          <p:cNvSpPr txBox="1"/>
          <p:nvPr/>
        </p:nvSpPr>
        <p:spPr>
          <a:xfrm>
            <a:off x="1554480" y="2188210"/>
            <a:ext cx="2743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Long-Tail SEO</a:t>
            </a:r>
          </a:p>
        </p:txBody>
      </p:sp>
      <p:sp>
        <p:nvSpPr>
          <p:cNvPr id="166" name="Text 8"/>
          <p:cNvSpPr txBox="1"/>
          <p:nvPr/>
        </p:nvSpPr>
        <p:spPr>
          <a:xfrm>
            <a:off x="1554479" y="2468879"/>
            <a:ext cx="6583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Zero-competition searches for rare language pair courses.</a:t>
            </a:r>
          </a:p>
        </p:txBody>
      </p:sp>
      <p:sp>
        <p:nvSpPr>
          <p:cNvPr id="167" name="Shape 9"/>
          <p:cNvSpPr/>
          <p:nvPr/>
        </p:nvSpPr>
        <p:spPr>
          <a:xfrm>
            <a:off x="731519" y="3108960"/>
            <a:ext cx="594361" cy="5943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10"/>
          <p:cNvSpPr txBox="1"/>
          <p:nvPr/>
        </p:nvSpPr>
        <p:spPr>
          <a:xfrm>
            <a:off x="731519" y="3272790"/>
            <a:ext cx="5943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69" name="Text 11"/>
          <p:cNvSpPr txBox="1"/>
          <p:nvPr/>
        </p:nvSpPr>
        <p:spPr>
          <a:xfrm>
            <a:off x="1554480" y="3102610"/>
            <a:ext cx="2743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Cultural Partnerships</a:t>
            </a:r>
          </a:p>
        </p:txBody>
      </p:sp>
      <p:sp>
        <p:nvSpPr>
          <p:cNvPr id="170" name="Text 12"/>
          <p:cNvSpPr txBox="1"/>
          <p:nvPr/>
        </p:nvSpPr>
        <p:spPr>
          <a:xfrm>
            <a:off x="1554479" y="3383279"/>
            <a:ext cx="6583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Endangered language preservation groups and cultural organizations.</a:t>
            </a:r>
          </a:p>
        </p:txBody>
      </p:sp>
      <p:sp>
        <p:nvSpPr>
          <p:cNvPr id="171" name="Shape 13"/>
          <p:cNvSpPr/>
          <p:nvPr/>
        </p:nvSpPr>
        <p:spPr>
          <a:xfrm>
            <a:off x="731519" y="4023359"/>
            <a:ext cx="594361" cy="59436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4"/>
          <p:cNvSpPr txBox="1"/>
          <p:nvPr/>
        </p:nvSpPr>
        <p:spPr>
          <a:xfrm>
            <a:off x="731519" y="4187189"/>
            <a:ext cx="5943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73" name="Text 15"/>
          <p:cNvSpPr txBox="1"/>
          <p:nvPr/>
        </p:nvSpPr>
        <p:spPr>
          <a:xfrm>
            <a:off x="1554480" y="4017010"/>
            <a:ext cx="2743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Community Growth</a:t>
            </a:r>
          </a:p>
        </p:txBody>
      </p:sp>
      <p:sp>
        <p:nvSpPr>
          <p:cNvPr id="174" name="Text 16"/>
          <p:cNvSpPr txBox="1"/>
          <p:nvPr/>
        </p:nvSpPr>
        <p:spPr>
          <a:xfrm>
            <a:off x="1554479" y="4297679"/>
            <a:ext cx="6583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Rare language speakers sharing lairner within their communities.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5C3AE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177" name="Shape 1"/>
          <p:cNvSpPr/>
          <p:nvPr/>
        </p:nvSpPr>
        <p:spPr>
          <a:xfrm>
            <a:off x="731519" y="1188719"/>
            <a:ext cx="2560322" cy="3291842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" name="Shape 2"/>
          <p:cNvSpPr/>
          <p:nvPr/>
        </p:nvSpPr>
        <p:spPr>
          <a:xfrm>
            <a:off x="731519" y="1188719"/>
            <a:ext cx="2560322" cy="54864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3"/>
          <p:cNvSpPr txBox="1"/>
          <p:nvPr/>
        </p:nvSpPr>
        <p:spPr>
          <a:xfrm>
            <a:off x="731519" y="1342389"/>
            <a:ext cx="256032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Near-Term</a:t>
            </a:r>
          </a:p>
        </p:txBody>
      </p:sp>
      <p:sp>
        <p:nvSpPr>
          <p:cNvPr id="180" name="Shape 4"/>
          <p:cNvSpPr/>
          <p:nvPr/>
        </p:nvSpPr>
        <p:spPr>
          <a:xfrm>
            <a:off x="914400" y="1993392"/>
            <a:ext cx="128016" cy="128017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5"/>
          <p:cNvSpPr txBox="1"/>
          <p:nvPr/>
        </p:nvSpPr>
        <p:spPr>
          <a:xfrm>
            <a:off x="1188720" y="1975157"/>
            <a:ext cx="192024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Conversion funnel optimization</a:t>
            </a:r>
          </a:p>
        </p:txBody>
      </p:sp>
      <p:sp>
        <p:nvSpPr>
          <p:cNvPr id="182" name="Shape 6"/>
          <p:cNvSpPr/>
          <p:nvPr/>
        </p:nvSpPr>
        <p:spPr>
          <a:xfrm>
            <a:off x="914400" y="2770632"/>
            <a:ext cx="128016" cy="128017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7"/>
          <p:cNvSpPr txBox="1"/>
          <p:nvPr/>
        </p:nvSpPr>
        <p:spPr>
          <a:xfrm>
            <a:off x="1188720" y="2847647"/>
            <a:ext cx="19202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Voice tutoring for all courses</a:t>
            </a:r>
          </a:p>
        </p:txBody>
      </p:sp>
      <p:sp>
        <p:nvSpPr>
          <p:cNvPr id="184" name="Shape 8"/>
          <p:cNvSpPr/>
          <p:nvPr/>
        </p:nvSpPr>
        <p:spPr>
          <a:xfrm>
            <a:off x="914400" y="3547871"/>
            <a:ext cx="128016" cy="128017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9"/>
          <p:cNvSpPr txBox="1"/>
          <p:nvPr/>
        </p:nvSpPr>
        <p:spPr>
          <a:xfrm>
            <a:off x="1188720" y="3624887"/>
            <a:ext cx="19202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Community features</a:t>
            </a:r>
          </a:p>
        </p:txBody>
      </p:sp>
      <p:sp>
        <p:nvSpPr>
          <p:cNvPr id="186" name="Shape 10"/>
          <p:cNvSpPr/>
          <p:nvPr/>
        </p:nvSpPr>
        <p:spPr>
          <a:xfrm>
            <a:off x="3566159" y="1188719"/>
            <a:ext cx="2560321" cy="3291842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Shape 11"/>
          <p:cNvSpPr/>
          <p:nvPr/>
        </p:nvSpPr>
        <p:spPr>
          <a:xfrm>
            <a:off x="3566159" y="1188719"/>
            <a:ext cx="2560321" cy="548641"/>
          </a:xfrm>
          <a:prstGeom prst="rect">
            <a:avLst/>
          </a:prstGeom>
          <a:solidFill>
            <a:srgbClr val="878B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12"/>
          <p:cNvSpPr txBox="1"/>
          <p:nvPr/>
        </p:nvSpPr>
        <p:spPr>
          <a:xfrm>
            <a:off x="3566159" y="1342389"/>
            <a:ext cx="2560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Mid-Term</a:t>
            </a:r>
          </a:p>
        </p:txBody>
      </p:sp>
      <p:sp>
        <p:nvSpPr>
          <p:cNvPr id="189" name="Shape 13"/>
          <p:cNvSpPr/>
          <p:nvPr/>
        </p:nvSpPr>
        <p:spPr>
          <a:xfrm>
            <a:off x="3749040" y="1993392"/>
            <a:ext cx="128017" cy="128017"/>
          </a:xfrm>
          <a:prstGeom prst="ellipse">
            <a:avLst/>
          </a:prstGeom>
          <a:solidFill>
            <a:srgbClr val="878B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14"/>
          <p:cNvSpPr txBox="1"/>
          <p:nvPr/>
        </p:nvSpPr>
        <p:spPr>
          <a:xfrm>
            <a:off x="4023359" y="2070407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B2B / institutional tier</a:t>
            </a:r>
          </a:p>
        </p:txBody>
      </p:sp>
      <p:sp>
        <p:nvSpPr>
          <p:cNvPr id="191" name="Shape 15"/>
          <p:cNvSpPr/>
          <p:nvPr/>
        </p:nvSpPr>
        <p:spPr>
          <a:xfrm>
            <a:off x="3749040" y="2770632"/>
            <a:ext cx="128017" cy="128017"/>
          </a:xfrm>
          <a:prstGeom prst="ellipse">
            <a:avLst/>
          </a:prstGeom>
          <a:solidFill>
            <a:srgbClr val="878B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6"/>
          <p:cNvSpPr txBox="1"/>
          <p:nvPr/>
        </p:nvSpPr>
        <p:spPr>
          <a:xfrm>
            <a:off x="4023359" y="2847647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Offline mode</a:t>
            </a:r>
          </a:p>
        </p:txBody>
      </p:sp>
      <p:sp>
        <p:nvSpPr>
          <p:cNvPr id="193" name="Shape 17"/>
          <p:cNvSpPr/>
          <p:nvPr/>
        </p:nvSpPr>
        <p:spPr>
          <a:xfrm>
            <a:off x="3749040" y="3547871"/>
            <a:ext cx="128017" cy="128017"/>
          </a:xfrm>
          <a:prstGeom prst="ellipse">
            <a:avLst/>
          </a:prstGeom>
          <a:solidFill>
            <a:srgbClr val="878B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8"/>
          <p:cNvSpPr txBox="1"/>
          <p:nvPr/>
        </p:nvSpPr>
        <p:spPr>
          <a:xfrm>
            <a:off x="4023359" y="3624887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Certification partnerships</a:t>
            </a:r>
          </a:p>
        </p:txBody>
      </p:sp>
      <p:sp>
        <p:nvSpPr>
          <p:cNvPr id="195" name="Shape 19"/>
          <p:cNvSpPr/>
          <p:nvPr/>
        </p:nvSpPr>
        <p:spPr>
          <a:xfrm>
            <a:off x="6400799" y="1188719"/>
            <a:ext cx="2560322" cy="3291842"/>
          </a:xfrm>
          <a:prstGeom prst="rect">
            <a:avLst/>
          </a:prstGeom>
          <a:solidFill>
            <a:srgbClr val="F5F3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Shape 20"/>
          <p:cNvSpPr/>
          <p:nvPr/>
        </p:nvSpPr>
        <p:spPr>
          <a:xfrm>
            <a:off x="6400799" y="1188719"/>
            <a:ext cx="2560322" cy="548641"/>
          </a:xfrm>
          <a:prstGeom prst="rect">
            <a:avLst/>
          </a:prstGeom>
          <a:solidFill>
            <a:srgbClr val="5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21"/>
          <p:cNvSpPr txBox="1"/>
          <p:nvPr/>
        </p:nvSpPr>
        <p:spPr>
          <a:xfrm>
            <a:off x="6400799" y="1342389"/>
            <a:ext cx="256032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Long-Term</a:t>
            </a:r>
          </a:p>
        </p:txBody>
      </p:sp>
      <p:sp>
        <p:nvSpPr>
          <p:cNvPr id="198" name="Shape 22"/>
          <p:cNvSpPr/>
          <p:nvPr/>
        </p:nvSpPr>
        <p:spPr>
          <a:xfrm>
            <a:off x="6583680" y="1993392"/>
            <a:ext cx="128017" cy="128017"/>
          </a:xfrm>
          <a:prstGeom prst="ellipse">
            <a:avLst/>
          </a:prstGeom>
          <a:solidFill>
            <a:srgbClr val="5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23"/>
          <p:cNvSpPr txBox="1"/>
          <p:nvPr/>
        </p:nvSpPr>
        <p:spPr>
          <a:xfrm>
            <a:off x="6858000" y="2070407"/>
            <a:ext cx="19202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UNESCO / NGO partnerships</a:t>
            </a:r>
          </a:p>
        </p:txBody>
      </p:sp>
      <p:sp>
        <p:nvSpPr>
          <p:cNvPr id="200" name="Shape 24"/>
          <p:cNvSpPr/>
          <p:nvPr/>
        </p:nvSpPr>
        <p:spPr>
          <a:xfrm>
            <a:off x="6583680" y="2770632"/>
            <a:ext cx="128017" cy="128017"/>
          </a:xfrm>
          <a:prstGeom prst="ellipse">
            <a:avLst/>
          </a:prstGeom>
          <a:solidFill>
            <a:srgbClr val="5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25"/>
          <p:cNvSpPr txBox="1"/>
          <p:nvPr/>
        </p:nvSpPr>
        <p:spPr>
          <a:xfrm>
            <a:off x="6858000" y="2752397"/>
            <a:ext cx="192024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Language preservation platform</a:t>
            </a:r>
          </a:p>
        </p:txBody>
      </p:sp>
      <p:sp>
        <p:nvSpPr>
          <p:cNvPr id="202" name="Shape 26"/>
          <p:cNvSpPr/>
          <p:nvPr/>
        </p:nvSpPr>
        <p:spPr>
          <a:xfrm>
            <a:off x="6583680" y="3547871"/>
            <a:ext cx="128017" cy="128017"/>
          </a:xfrm>
          <a:prstGeom prst="ellipse">
            <a:avLst/>
          </a:prstGeom>
          <a:solidFill>
            <a:srgbClr val="5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27"/>
          <p:cNvSpPr txBox="1"/>
          <p:nvPr/>
        </p:nvSpPr>
        <p:spPr>
          <a:xfrm>
            <a:off x="6858000" y="3624887"/>
            <a:ext cx="19202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D2252"/>
                </a:solidFill>
              </a:defRPr>
            </a:lvl1pPr>
          </a:lstStyle>
          <a:p>
            <a:pPr/>
            <a:r>
              <a:t>Global education integrations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 txBox="1"/>
          <p:nvPr/>
        </p:nvSpPr>
        <p:spPr>
          <a:xfrm>
            <a:off x="731519" y="4190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206" name="Shape 1"/>
          <p:cNvSpPr/>
          <p:nvPr/>
        </p:nvSpPr>
        <p:spPr>
          <a:xfrm>
            <a:off x="1371600" y="1188719"/>
            <a:ext cx="6400800" cy="3200401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" name="Shape 2"/>
          <p:cNvSpPr/>
          <p:nvPr/>
        </p:nvSpPr>
        <p:spPr>
          <a:xfrm>
            <a:off x="1828800" y="1554480"/>
            <a:ext cx="1371600" cy="1371601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400" y="1783079"/>
            <a:ext cx="914400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3"/>
          <p:cNvSpPr txBox="1"/>
          <p:nvPr/>
        </p:nvSpPr>
        <p:spPr>
          <a:xfrm>
            <a:off x="3474720" y="1617980"/>
            <a:ext cx="384048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Tim Anthony</a:t>
            </a:r>
          </a:p>
        </p:txBody>
      </p:sp>
      <p:sp>
        <p:nvSpPr>
          <p:cNvPr id="210" name="Text 4"/>
          <p:cNvSpPr txBox="1"/>
          <p:nvPr/>
        </p:nvSpPr>
        <p:spPr>
          <a:xfrm>
            <a:off x="3474720" y="2099880"/>
            <a:ext cx="3840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7B5CFF"/>
                </a:solidFill>
              </a:defRPr>
            </a:lvl1pPr>
          </a:lstStyle>
          <a:p>
            <a:pPr/>
            <a:r>
              <a:t>Technical Founder &amp; CTO</a:t>
            </a:r>
          </a:p>
        </p:txBody>
      </p:sp>
      <p:sp>
        <p:nvSpPr>
          <p:cNvPr id="211" name="Shape 5"/>
          <p:cNvSpPr/>
          <p:nvPr/>
        </p:nvSpPr>
        <p:spPr>
          <a:xfrm>
            <a:off x="3474720" y="2633472"/>
            <a:ext cx="109729" cy="109729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6"/>
          <p:cNvSpPr txBox="1"/>
          <p:nvPr/>
        </p:nvSpPr>
        <p:spPr>
          <a:xfrm>
            <a:off x="3749040" y="2619047"/>
            <a:ext cx="38404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Full-stack: PHP, React, Swift, Android</a:t>
            </a:r>
          </a:p>
        </p:txBody>
      </p:sp>
      <p:sp>
        <p:nvSpPr>
          <p:cNvPr id="213" name="Shape 7"/>
          <p:cNvSpPr/>
          <p:nvPr/>
        </p:nvSpPr>
        <p:spPr>
          <a:xfrm>
            <a:off x="3474720" y="3072383"/>
            <a:ext cx="109729" cy="109729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8"/>
          <p:cNvSpPr txBox="1"/>
          <p:nvPr/>
        </p:nvSpPr>
        <p:spPr>
          <a:xfrm>
            <a:off x="3749040" y="3057959"/>
            <a:ext cx="38404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5 years CHECK24, currently onOffice GmbH</a:t>
            </a:r>
          </a:p>
        </p:txBody>
      </p:sp>
      <p:sp>
        <p:nvSpPr>
          <p:cNvPr id="215" name="Shape 9"/>
          <p:cNvSpPr/>
          <p:nvPr/>
        </p:nvSpPr>
        <p:spPr>
          <a:xfrm>
            <a:off x="3474720" y="3511296"/>
            <a:ext cx="109729" cy="109729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10"/>
          <p:cNvSpPr txBox="1"/>
          <p:nvPr/>
        </p:nvSpPr>
        <p:spPr>
          <a:xfrm>
            <a:off x="3749040" y="3401621"/>
            <a:ext cx="38404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Speaks 5 languages: German, English, French, Turkish, Chinese</a:t>
            </a:r>
          </a:p>
        </p:txBody>
      </p:sp>
      <p:sp>
        <p:nvSpPr>
          <p:cNvPr id="217" name="Shape 11"/>
          <p:cNvSpPr/>
          <p:nvPr/>
        </p:nvSpPr>
        <p:spPr>
          <a:xfrm>
            <a:off x="3474720" y="3950208"/>
            <a:ext cx="109729" cy="109729"/>
          </a:xfrm>
          <a:prstGeom prst="ellipse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12"/>
          <p:cNvSpPr txBox="1"/>
          <p:nvPr/>
        </p:nvSpPr>
        <p:spPr>
          <a:xfrm>
            <a:off x="3749040" y="3935783"/>
            <a:ext cx="38404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8B0D4"/>
                </a:solidFill>
              </a:defRPr>
            </a:lvl1pPr>
          </a:lstStyle>
          <a:p>
            <a:pPr/>
            <a:r>
              <a:t>Built the entire lairner platform solo across web, iOS, Android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B5CFF">
              <a:alpha val="7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Shape 1"/>
          <p:cNvSpPr/>
          <p:nvPr/>
        </p:nvSpPr>
        <p:spPr>
          <a:xfrm>
            <a:off x="7315200" y="-914401"/>
            <a:ext cx="2743200" cy="2743201"/>
          </a:xfrm>
          <a:prstGeom prst="ellipse">
            <a:avLst/>
          </a:prstGeom>
          <a:solidFill>
            <a:srgbClr val="878BFF">
              <a:alpha val="64999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2"/>
          <p:cNvSpPr txBox="1"/>
          <p:nvPr/>
        </p:nvSpPr>
        <p:spPr>
          <a:xfrm>
            <a:off x="731519" y="1198880"/>
            <a:ext cx="73152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Let's talk.</a:t>
            </a:r>
          </a:p>
        </p:txBody>
      </p:sp>
      <p:sp>
        <p:nvSpPr>
          <p:cNvPr id="223" name="Text 3"/>
          <p:cNvSpPr txBox="1"/>
          <p:nvPr/>
        </p:nvSpPr>
        <p:spPr>
          <a:xfrm>
            <a:off x="731519" y="2374463"/>
            <a:ext cx="64008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600">
                <a:solidFill>
                  <a:srgbClr val="B8B0D4"/>
                </a:solidFill>
              </a:defRPr>
            </a:pPr>
            <a:r>
              <a:t>We're raising to accelerate growth, expand the team,</a:t>
            </a:r>
          </a:p>
          <a:p>
            <a:pPr>
              <a:defRPr sz="1600">
                <a:solidFill>
                  <a:srgbClr val="B8B0D4"/>
                </a:solidFill>
              </a:defRPr>
            </a:pPr>
            <a:r>
              <a:t>and scale infrastructure for global reach.</a:t>
            </a:r>
          </a:p>
        </p:txBody>
      </p:sp>
      <p:sp>
        <p:nvSpPr>
          <p:cNvPr id="224" name="Shape 4"/>
          <p:cNvSpPr/>
          <p:nvPr/>
        </p:nvSpPr>
        <p:spPr>
          <a:xfrm>
            <a:off x="731519" y="3291840"/>
            <a:ext cx="4114801" cy="1097281"/>
          </a:xfrm>
          <a:prstGeom prst="rect">
            <a:avLst/>
          </a:prstGeom>
          <a:solidFill>
            <a:srgbClr val="2A1F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5"/>
          <p:cNvSpPr txBox="1"/>
          <p:nvPr/>
        </p:nvSpPr>
        <p:spPr>
          <a:xfrm>
            <a:off x="914400" y="3630098"/>
            <a:ext cx="3657600" cy="420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7B5CFF"/>
                </a:solidFill>
              </a:defRPr>
            </a:pPr>
            <a:r>
              <a:t>lairner.com</a:t>
            </a:r>
          </a:p>
          <a:p>
            <a:pPr>
              <a:defRPr sz="1300">
                <a:solidFill>
                  <a:srgbClr val="B8B0D4"/>
                </a:solidFill>
              </a:defRPr>
            </a:pPr>
            <a:r>
              <a:t>Tim Anthony, Founder</a:t>
            </a:r>
          </a:p>
        </p:txBody>
      </p:sp>
      <p:sp>
        <p:nvSpPr>
          <p:cNvPr id="226" name="Shape 6"/>
          <p:cNvSpPr/>
          <p:nvPr/>
        </p:nvSpPr>
        <p:spPr>
          <a:xfrm>
            <a:off x="0" y="4663440"/>
            <a:ext cx="9144000" cy="480061"/>
          </a:xfrm>
          <a:prstGeom prst="rect">
            <a:avLst/>
          </a:prstGeom>
          <a:solidFill>
            <a:srgbClr val="7B5C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7"/>
          <p:cNvSpPr txBox="1"/>
          <p:nvPr/>
        </p:nvSpPr>
        <p:spPr>
          <a:xfrm>
            <a:off x="731519" y="482503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lairner. Learn any language.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